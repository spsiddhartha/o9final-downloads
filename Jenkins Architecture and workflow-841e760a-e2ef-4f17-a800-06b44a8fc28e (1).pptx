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79E1-4B8B-C165-C09F-875AFADDC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BE9E1-FEF2-EF25-8EC2-C3D67F782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A840E-FDCB-3ACE-A123-5186F8DF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0C3BC-54B8-9DCD-4C7C-9A76073D5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CFAAB-3063-5DE5-B40C-06EAA76DF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641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6ED30-781E-B540-905D-2CBAEC692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72885-4847-583C-A58C-0F78F5B67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5563A-CE88-5799-0F69-22CD0DF3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E112F-8A76-0509-8A4C-41664E66D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FFCC9-88A2-B042-D165-FEBA14566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61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8D737-98F7-A0DD-935E-800E33A92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09BAE-40D7-6ADA-04B6-CD9B37024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5AE44-358A-8B04-56CC-7BB4D6409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2F499-D5D6-94B5-FD8F-EA5689768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19528-0E3B-F803-127F-EC5CF2D49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386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29F5-4CFD-88ED-82EC-7C629210F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BAF46-F9EB-5898-1844-6A413020F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B764A-BAC5-BDFC-2FF6-81B0E2791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308E-C664-6333-F93A-A385AB6DF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E69AB-1DDD-79FF-B048-F808FDEA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E25E6-8A70-F1BA-B81A-9D337BE0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401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7C7AB-27F2-1C90-EF37-18E73FD8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225AA-F913-A3C8-860C-A05DEB498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34BE1-9F33-D690-B6DA-40421634C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FBAA5-5FF5-5DA7-B6AB-E4808CAF8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1A9B5F-0755-4098-D7F2-CA3C5AB73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A0B543-7982-07F7-6199-18CFC5F21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07C748-BCC3-5C18-D409-6765609F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7A708A-DB3A-D9C0-7505-1CADABC61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13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E7B60-8CF0-3B35-81C8-6C3C723D7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AEE66-C0C3-A96F-7210-EFDFB44D3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D7274F-39C6-CA61-E6E8-E838560A8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F38C2-8FF7-55C6-8322-6B9D3084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465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52BC56-AACC-EF87-B702-8841FC3AF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CD3061-8779-26EF-C05E-E39E4A031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19B48-C731-4196-0131-D34C143A2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224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3F59-E297-F173-AB99-CDAE76A02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1258F-6ABC-C256-0869-B00004975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3D66E-B525-CA92-207F-8FF68DFD2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C7C3E-8FA3-A85B-54DA-F207D0A1C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9DF1E-47CF-E271-7F7C-30A3CAB0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B9711-A828-29E1-57DA-9952E558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935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760F-B9E6-9C7D-D731-104D7DE34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8E9DB1-0A71-EAB7-5556-CF0220320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3A4B92-95D2-9D6E-FFA4-5907FE9E9A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7D12A-3FCF-34B4-6A7F-41EB7467B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4E586-DF2A-0907-C991-B77FA6539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4A1655-795C-AE3E-417A-CE755B6D3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11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5F403-DB5C-A0E8-8F30-F5B4880BC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5336F-2C93-49C6-1B80-AA755480E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9FC09-53D3-29E5-495F-3A3677686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F7D79-7E5A-DD01-CE9C-4F819835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E88D2-FBF4-D977-0BEE-69F7B158F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80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AC6AA4-A5D4-5CF3-5F52-3E4B279C3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0677C-EB3E-E1B6-E4C8-9A705C6B1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A1B52-5D78-E5DD-B762-B3161D2B7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AFC3-B692-9DA8-A23C-27A22D083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443DD-9F78-2401-1882-4072CF2C5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1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7051E9-D183-A7DA-FA9C-76720798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B5984-DA7D-FA59-37F7-90F443F49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6B77D-360F-061D-D677-48C51390F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1BB4A-2181-4FBC-8E21-BFCD825AE6A3}" type="datetimeFigureOut">
              <a:rPr lang="en-IN" smtClean="0"/>
              <a:t>14-12-2023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32D42-A34B-5DF6-34CD-F9CB72C982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9C0DD-457F-21E8-B251-6C638078A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B33199-46DD-42DB-9A82-DC65685A4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33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EB1E7-1F5C-FD53-4E54-3B0AB91466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45641"/>
            <a:ext cx="9144000" cy="2387600"/>
          </a:xfrm>
        </p:spPr>
        <p:txBody>
          <a:bodyPr/>
          <a:lstStyle/>
          <a:p>
            <a:r>
              <a:rPr lang="en-US" dirty="0"/>
              <a:t>Jenkins (Current) Architecture and workflow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8259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62996A6-FF0F-A8F7-3D6D-2626B7BCE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0"/>
            <a:ext cx="8724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78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38238C-05A6-7B87-D487-6A7D75258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48167"/>
            <a:ext cx="9093138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0985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BD7A-B7E0-7F3C-14C1-57F5574C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Action Items to reduce total time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873D5-32C5-A41F-3A49-2C67C7B33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Moving Git Checkout to different branch nodes -- Hari</a:t>
            </a:r>
          </a:p>
          <a:p>
            <a:r>
              <a:rPr lang="en-IN" sz="2400" dirty="0"/>
              <a:t>Identifying the dependencies of compilation in the master and setting up the dependencies in the branch nodes -- Dev help required.</a:t>
            </a:r>
          </a:p>
          <a:p>
            <a:r>
              <a:rPr lang="en-IN" sz="2400" dirty="0"/>
              <a:t>Conda nodes to be moved to Ubuntu --Hari</a:t>
            </a:r>
          </a:p>
          <a:p>
            <a:r>
              <a:rPr lang="en-IN" sz="2400" dirty="0"/>
              <a:t>Single Compile for multiple solutions -- Vikram/Hari (In progress)</a:t>
            </a:r>
          </a:p>
          <a:p>
            <a:r>
              <a:rPr lang="en-IN" sz="2400" dirty="0"/>
              <a:t>Split time-consuming Test jobs -- Dev help required.</a:t>
            </a:r>
          </a:p>
          <a:p>
            <a:r>
              <a:rPr lang="en-IN" sz="2400" dirty="0"/>
              <a:t>Using 2 nodes for each branch suite -- Hari.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3809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3739E9-D34E-25F8-0899-46517D14F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500062"/>
            <a:ext cx="9667875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61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4A38E0-2890-0693-B629-F6418ABA6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488" y="0"/>
            <a:ext cx="8341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686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Isosceles Triangle 40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2549EBB-AE69-E719-B9E6-7DE96D237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431889"/>
              </p:ext>
            </p:extLst>
          </p:nvPr>
        </p:nvGraphicFramePr>
        <p:xfrm>
          <a:off x="643467" y="1185462"/>
          <a:ext cx="10905069" cy="448708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30426">
                  <a:extLst>
                    <a:ext uri="{9D8B030D-6E8A-4147-A177-3AD203B41FA5}">
                      <a16:colId xmlns:a16="http://schemas.microsoft.com/office/drawing/2014/main" val="763848780"/>
                    </a:ext>
                  </a:extLst>
                </a:gridCol>
                <a:gridCol w="1520847">
                  <a:extLst>
                    <a:ext uri="{9D8B030D-6E8A-4147-A177-3AD203B41FA5}">
                      <a16:colId xmlns:a16="http://schemas.microsoft.com/office/drawing/2014/main" val="829932816"/>
                    </a:ext>
                  </a:extLst>
                </a:gridCol>
                <a:gridCol w="3859824">
                  <a:extLst>
                    <a:ext uri="{9D8B030D-6E8A-4147-A177-3AD203B41FA5}">
                      <a16:colId xmlns:a16="http://schemas.microsoft.com/office/drawing/2014/main" val="877443505"/>
                    </a:ext>
                  </a:extLst>
                </a:gridCol>
                <a:gridCol w="684992">
                  <a:extLst>
                    <a:ext uri="{9D8B030D-6E8A-4147-A177-3AD203B41FA5}">
                      <a16:colId xmlns:a16="http://schemas.microsoft.com/office/drawing/2014/main" val="151536229"/>
                    </a:ext>
                  </a:extLst>
                </a:gridCol>
                <a:gridCol w="3708980">
                  <a:extLst>
                    <a:ext uri="{9D8B030D-6E8A-4147-A177-3AD203B41FA5}">
                      <a16:colId xmlns:a16="http://schemas.microsoft.com/office/drawing/2014/main" val="2652446836"/>
                    </a:ext>
                  </a:extLst>
                </a:gridCol>
              </a:tblGrid>
              <a:tr h="385673">
                <a:tc gridSpan="5">
                  <a:txBody>
                    <a:bodyPr/>
                    <a:lstStyle/>
                    <a:p>
                      <a:pPr algn="ctr" rtl="0" fontAlgn="b"/>
                      <a:r>
                        <a:rPr lang="en-IN" sz="1600" b="1" cap="none" spc="0" dirty="0">
                          <a:solidFill>
                            <a:schemeClr val="tx1"/>
                          </a:solidFill>
                          <a:effectLst/>
                        </a:rPr>
                        <a:t>Jenkins Inventory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818500"/>
                  </a:ext>
                </a:extLst>
              </a:tr>
              <a:tr h="590111">
                <a:tc>
                  <a:txBody>
                    <a:bodyPr/>
                    <a:lstStyle/>
                    <a:p>
                      <a:pPr rtl="0" fontAlgn="b"/>
                      <a:r>
                        <a:rPr lang="en-IN" sz="1500" b="1" cap="none" spc="0">
                          <a:solidFill>
                            <a:schemeClr val="tx1"/>
                          </a:solidFill>
                          <a:effectLst/>
                        </a:rPr>
                        <a:t>Jenkins Nodes List</a:t>
                      </a:r>
                    </a:p>
                  </a:txBody>
                  <a:tcPr marL="10460" marR="10460" marT="53136" marB="5313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500" b="1" cap="none" spc="0">
                          <a:solidFill>
                            <a:schemeClr val="tx1"/>
                          </a:solidFill>
                          <a:effectLst/>
                        </a:rPr>
                        <a:t>Operating System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500" b="1" cap="none" spc="0" dirty="0">
                          <a:solidFill>
                            <a:schemeClr val="tx1"/>
                          </a:solidFill>
                          <a:effectLst/>
                        </a:rPr>
                        <a:t>Core components installed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500" b="1" cap="none" spc="0">
                          <a:solidFill>
                            <a:schemeClr val="tx1"/>
                          </a:solidFill>
                          <a:effectLst/>
                        </a:rPr>
                        <a:t>Total Count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500" b="1" cap="none" spc="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9986870"/>
                  </a:ext>
                </a:extLst>
              </a:tr>
              <a:tr h="658258"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b="0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Master Built-in Node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Window 2016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1. VS 2017/19/22, 2. SQL Server 2016, 3. RMQ 3.7.5, 4. Redis 3.2, 5. MongoDB 4.4, 6. Solr 9.1.1, 7. Office 365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1. Jenkins Master connects with all the slave nodes and keeps all the admin data. 2. Code Checkout 3. Core Components Compilation 4. Nuget Creation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172631"/>
                  </a:ext>
                </a:extLst>
              </a:tr>
              <a:tr h="709367"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Branch Nodes</a:t>
                      </a:r>
                    </a:p>
                  </a:txBody>
                  <a:tcPr marL="10460" marR="10460" marT="53136" marB="5313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Window 2016, 2022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1. VS 2017/19/22, 2. SQL Server 2016, 3. RMQ 3.7.5, 4. Redis 3.2, 5. MongoDB 4.4, 6. Solr 9.1.1, 7. Office 365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1. To execute other components compile. 2. Branch level Unit and Functional test suites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58520"/>
                  </a:ext>
                </a:extLst>
              </a:tr>
              <a:tr h="317527"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b="0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LS SCS PSR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Window 2016, 2022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VS 2017/19/22, SQL 2016, Office 365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LS, SCS, PSR Excel test suites execution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89818"/>
                  </a:ext>
                </a:extLst>
              </a:tr>
              <a:tr h="334563"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LS SCS</a:t>
                      </a:r>
                    </a:p>
                  </a:txBody>
                  <a:tcPr marL="10460" marR="10460" marT="53136" marB="5313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Window 2016, 2022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VS 2017/19/22, SQL 2016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cap="none" spc="0">
                          <a:solidFill>
                            <a:schemeClr val="tx1"/>
                          </a:solidFill>
                          <a:effectLst/>
                        </a:rPr>
                        <a:t>LS and SCS test suites execution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957698"/>
                  </a:ext>
                </a:extLst>
              </a:tr>
              <a:tr h="317527"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b="0" cap="none" spc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Conda Node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RHEL 7 &amp;9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 dirty="0">
                          <a:solidFill>
                            <a:schemeClr val="tx1"/>
                          </a:solidFill>
                          <a:effectLst/>
                        </a:rPr>
                        <a:t>Conda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Pyhelpers compile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32220"/>
                  </a:ext>
                </a:extLst>
              </a:tr>
              <a:tr h="334563"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b="0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Jmeter</a:t>
                      </a:r>
                    </a:p>
                  </a:txBody>
                  <a:tcPr marL="10460" marR="10460" marT="53136" marB="5313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Window 2019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Jmeter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Jmeter Test suites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673315"/>
                  </a:ext>
                </a:extLst>
              </a:tr>
              <a:tr h="317527"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b="0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S3 Bucket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NA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NA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cap="none" spc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100" cap="none" spc="0">
                          <a:solidFill>
                            <a:schemeClr val="tx1"/>
                          </a:solidFill>
                          <a:effectLst/>
                        </a:rPr>
                        <a:t>Used to store Nuget builds and Py Packages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141933"/>
                  </a:ext>
                </a:extLst>
              </a:tr>
              <a:tr h="521965"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Azure SMB FileShare</a:t>
                      </a:r>
                    </a:p>
                  </a:txBody>
                  <a:tcPr marL="10460" marR="10460" marT="53136" marB="53136" anchor="b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NA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NA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200" cap="none" spc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Used to store </a:t>
                      </a:r>
                      <a:r>
                        <a:rPr lang="en-US" sz="1200" cap="none" spc="0" dirty="0" err="1">
                          <a:solidFill>
                            <a:schemeClr val="tx1"/>
                          </a:solidFill>
                          <a:effectLst/>
                        </a:rPr>
                        <a:t>Nuget</a:t>
                      </a:r>
                      <a:r>
                        <a:rPr lang="en-US" sz="1200" cap="none" spc="0" dirty="0">
                          <a:solidFill>
                            <a:schemeClr val="tx1"/>
                          </a:solidFill>
                          <a:effectLst/>
                        </a:rPr>
                        <a:t> builds which will be used for environment upgrades</a:t>
                      </a:r>
                    </a:p>
                  </a:txBody>
                  <a:tcPr marL="10460" marR="10460" marT="53136" marB="53136" anchor="b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2885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1534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320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Arial</vt:lpstr>
      <vt:lpstr>Calibri</vt:lpstr>
      <vt:lpstr>Calibri Light</vt:lpstr>
      <vt:lpstr>Office Theme</vt:lpstr>
      <vt:lpstr>Jenkins (Current) Architecture and workflow</vt:lpstr>
      <vt:lpstr>PowerPoint Presentation</vt:lpstr>
      <vt:lpstr>PowerPoint Presentation</vt:lpstr>
      <vt:lpstr>Action Items to reduce total time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Jenkins Architecture and workflow</dc:title>
  <dc:creator>Boggeti Hari Narayanareddy</dc:creator>
  <cp:lastModifiedBy>Boggeti Hari Narayanareddy</cp:lastModifiedBy>
  <cp:revision>11</cp:revision>
  <dcterms:created xsi:type="dcterms:W3CDTF">2023-12-07T12:29:57Z</dcterms:created>
  <dcterms:modified xsi:type="dcterms:W3CDTF">2023-12-14T05:18:31Z</dcterms:modified>
</cp:coreProperties>
</file>